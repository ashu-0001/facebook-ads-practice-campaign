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Aptos Display"/>
              </a:defRPr>
            </a:pPr>
            <a:r>
              <a:t>Competitor Comparison — Digital Marketing Education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646E"/>
                </a:solidFill>
                <a:latin typeface="Aptos"/>
              </a:defRPr>
            </a:pPr>
            <a:r>
              <a:t>Day 4 • SkillGrow Digital Academy | Key observations from official public program pages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337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490472"/>
            <a:ext cx="29352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latin typeface="Aptos Display"/>
              </a:defRPr>
            </a:pPr>
            <a:r>
              <a:t>upGrad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039112"/>
            <a:ext cx="2935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latin typeface="Aptos"/>
              </a:defRPr>
            </a:pPr>
            <a:r>
              <a:t>Offerings</a:t>
            </a:r>
          </a:p>
          <a:p>
            <a:pPr>
              <a:spcAft>
                <a:spcPts val="0"/>
              </a:spcAft>
              <a:defRPr sz="860">
                <a:latin typeface="Aptos"/>
              </a:defRPr>
            </a:pPr>
            <a:r>
              <a:t>SEO, social media, PPC, analytics; 6+ live/practical 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752344"/>
            <a:ext cx="2935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latin typeface="Aptos"/>
              </a:defRPr>
            </a:pPr>
            <a:r>
              <a:t>Audience</a:t>
            </a:r>
          </a:p>
          <a:p>
            <a:pPr>
              <a:spcAft>
                <a:spcPts val="0"/>
              </a:spcAft>
              <a:defRPr sz="860">
                <a:latin typeface="Aptos"/>
              </a:defRPr>
            </a:pPr>
            <a:r>
              <a:t>Beginners, students/freshers, professionals, business owners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465576"/>
            <a:ext cx="2935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latin typeface="Aptos"/>
              </a:defRPr>
            </a:pPr>
            <a:r>
              <a:t>Messaging</a:t>
            </a:r>
          </a:p>
          <a:p>
            <a:pPr>
              <a:spcAft>
                <a:spcPts val="0"/>
              </a:spcAft>
              <a:defRPr sz="860">
                <a:latin typeface="Aptos"/>
              </a:defRPr>
            </a:pPr>
            <a:r>
              <a:t>Practical learning • live projects • tools • career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178808"/>
            <a:ext cx="2935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latin typeface="Aptos"/>
              </a:defRPr>
            </a:pPr>
            <a:r>
              <a:t>Creative approach</a:t>
            </a:r>
          </a:p>
          <a:p>
            <a:pPr>
              <a:spcAft>
                <a:spcPts val="0"/>
              </a:spcAft>
              <a:defRPr sz="860">
                <a:latin typeface="Aptos"/>
              </a:defRPr>
            </a:pPr>
            <a:r>
              <a:t>Program/benefit + project-led communication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4892040"/>
            <a:ext cx="2935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latin typeface="Aptos"/>
              </a:defRPr>
            </a:pPr>
            <a:r>
              <a:t>SkillGrow opportunity</a:t>
            </a:r>
          </a:p>
          <a:p>
            <a:pPr>
              <a:spcAft>
                <a:spcPts val="0"/>
              </a:spcAft>
              <a:defRPr sz="860">
                <a:latin typeface="Aptos"/>
              </a:defRPr>
            </a:pPr>
            <a:r>
              <a:t>Own a simpler beginner + practical-project position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1325880"/>
            <a:ext cx="3337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490472"/>
            <a:ext cx="29352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latin typeface="Aptos Display"/>
              </a:defRPr>
            </a:pPr>
            <a:r>
              <a:t>Simplilearn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39112"/>
            <a:ext cx="2935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latin typeface="Aptos"/>
              </a:defRPr>
            </a:pPr>
            <a:r>
              <a:t>Offerings</a:t>
            </a:r>
          </a:p>
          <a:p>
            <a:pPr>
              <a:spcAft>
                <a:spcPts val="0"/>
              </a:spcAft>
              <a:defRPr sz="860">
                <a:latin typeface="Aptos"/>
              </a:defRPr>
            </a:pPr>
            <a:r>
              <a:t>Multi-channel digital marketing + projects, capstones &amp; certification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752344"/>
            <a:ext cx="2935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latin typeface="Aptos"/>
              </a:defRPr>
            </a:pPr>
            <a:r>
              <a:t>Audience</a:t>
            </a:r>
          </a:p>
          <a:p>
            <a:pPr>
              <a:spcAft>
                <a:spcPts val="0"/>
              </a:spcAft>
              <a:defRPr sz="860">
                <a:latin typeface="Aptos"/>
              </a:defRPr>
            </a:pPr>
            <a:r>
              <a:t>Professionals, graduates, career-focused learners, entrepreneurs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465576"/>
            <a:ext cx="2935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latin typeface="Aptos"/>
              </a:defRPr>
            </a:pPr>
            <a:r>
              <a:t>Messaging</a:t>
            </a:r>
          </a:p>
          <a:p>
            <a:pPr>
              <a:spcAft>
                <a:spcPts val="0"/>
              </a:spcAft>
              <a:defRPr sz="860">
                <a:latin typeface="Aptos"/>
              </a:defRPr>
            </a:pPr>
            <a:r>
              <a:t>Certification • projects • AI • career readiness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178808"/>
            <a:ext cx="2935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latin typeface="Aptos"/>
              </a:defRPr>
            </a:pPr>
            <a:r>
              <a:t>Creative approach</a:t>
            </a:r>
          </a:p>
          <a:p>
            <a:pPr>
              <a:spcAft>
                <a:spcPts val="0"/>
              </a:spcAft>
              <a:defRPr sz="860">
                <a:latin typeface="Aptos"/>
              </a:defRPr>
            </a:pPr>
            <a:r>
              <a:t>Feature/proof-point-led program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892040"/>
            <a:ext cx="2935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latin typeface="Aptos"/>
              </a:defRPr>
            </a:pPr>
            <a:r>
              <a:t>SkillGrow opportunity</a:t>
            </a:r>
          </a:p>
          <a:p>
            <a:pPr>
              <a:spcAft>
                <a:spcPts val="0"/>
              </a:spcAft>
              <a:defRPr sz="860">
                <a:latin typeface="Aptos"/>
              </a:defRPr>
            </a:pPr>
            <a:r>
              <a:t>Use focused, persona-specific messages instead of feature overload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90104" y="1325880"/>
            <a:ext cx="3337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2" y="1490472"/>
            <a:ext cx="29352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latin typeface="Aptos Display"/>
              </a:defRPr>
            </a:pPr>
            <a:r>
              <a:t>NIIT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2" y="2039112"/>
            <a:ext cx="2935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latin typeface="Aptos"/>
              </a:defRPr>
            </a:pPr>
            <a:r>
              <a:t>Offerings</a:t>
            </a:r>
          </a:p>
          <a:p>
            <a:pPr>
              <a:spcAft>
                <a:spcPts val="0"/>
              </a:spcAft>
              <a:defRPr sz="860">
                <a:latin typeface="Aptos"/>
              </a:defRPr>
            </a:pPr>
            <a:r>
              <a:t>SEO, paid social, analytics, campaign management + capstone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2" y="2752344"/>
            <a:ext cx="2935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latin typeface="Aptos"/>
              </a:defRPr>
            </a:pPr>
            <a:r>
              <a:t>Audience</a:t>
            </a:r>
          </a:p>
          <a:p>
            <a:pPr>
              <a:spcAft>
                <a:spcPts val="0"/>
              </a:spcAft>
              <a:defRPr sz="860">
                <a:latin typeface="Aptos"/>
              </a:defRPr>
            </a:pPr>
            <a:r>
              <a:t>Final-year students &amp; graduates for referenced program; broader skills learners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3465576"/>
            <a:ext cx="2935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latin typeface="Aptos"/>
              </a:defRPr>
            </a:pPr>
            <a:r>
              <a:t>Messaging</a:t>
            </a:r>
          </a:p>
          <a:p>
            <a:pPr>
              <a:spcAft>
                <a:spcPts val="0"/>
              </a:spcAft>
              <a:defRPr sz="860">
                <a:latin typeface="Aptos"/>
              </a:defRPr>
            </a:pPr>
            <a:r>
              <a:t>Structured learning • mentorship • hands-on projects • job readiness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4178808"/>
            <a:ext cx="2935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latin typeface="Aptos"/>
              </a:defRPr>
            </a:pPr>
            <a:r>
              <a:t>Creative approach</a:t>
            </a:r>
          </a:p>
          <a:p>
            <a:pPr>
              <a:spcAft>
                <a:spcPts val="0"/>
              </a:spcAft>
              <a:defRPr sz="860">
                <a:latin typeface="Aptos"/>
              </a:defRPr>
            </a:pPr>
            <a:r>
              <a:t>Curriculum/program-led 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2" y="4892040"/>
            <a:ext cx="293522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latin typeface="Aptos"/>
              </a:defRPr>
            </a:pPr>
            <a:r>
              <a:t>SkillGrow opportunity</a:t>
            </a:r>
          </a:p>
          <a:p>
            <a:pPr>
              <a:spcAft>
                <a:spcPts val="0"/>
              </a:spcAft>
              <a:defRPr sz="860">
                <a:latin typeface="Aptos"/>
              </a:defRPr>
            </a:pPr>
            <a:r>
              <a:t>Be approachable for beginners and career starters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89320"/>
            <a:ext cx="11155680" cy="475488"/>
          </a:xfrm>
          <a:prstGeom prst="roundRect">
            <a:avLst/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6071616"/>
            <a:ext cx="10744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Aptos"/>
              </a:defRPr>
            </a:pPr>
            <a:r>
              <a:t>SkillGrow positioning: beginner-friendly + practical projects + persona-based messaging + simple lead-generation journey.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967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6E73"/>
                </a:solidFill>
                <a:latin typeface="Aptos"/>
              </a:defRPr>
            </a:pPr>
            <a:r>
              <a:t>Sources: upGrad Digital Marketing Courses; Simplilearn Master in Digital Marketing; NIIT Digital Marketing with GenAI Advanced Program (official pages, accessed Sept. 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